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5420975" cy="92487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1_line_green"/>
          <p:cNvSpPr/>
          <p:nvPr/>
        </p:nvSpPr>
        <p:spPr>
          <a:xfrm flipV="1">
            <a:off x="2286000" y="4495800"/>
            <a:ext cx="133350" cy="171450"/>
          </a:xfrm>
          <a:prstGeom prst="line">
            <a:avLst/>
          </a:prstGeom>
          <a:noFill/>
          <a:ln w="3175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3" name="n1_line_white"/>
          <p:cNvSpPr/>
          <p:nvPr/>
        </p:nvSpPr>
        <p:spPr>
          <a:xfrm flipV="1">
            <a:off x="2628900" y="4905375"/>
            <a:ext cx="371475" cy="66675"/>
          </a:xfrm>
          <a:prstGeom prst="line">
            <a:avLst/>
          </a:prstGeom>
          <a:noFill/>
          <a:ln w="31750">
            <a:solidFill>
              <a:srgbClr val="C9C9C9"/>
            </a:solidFill>
          </a:ln>
        </p:spPr>
        <p:txBody>
          <a:bodyPr/>
          <a:lstStyle/>
          <a:p/>
        </p:txBody>
      </p:sp>
      <p:sp>
        <p:nvSpPr>
          <p:cNvPr id="4" name="n1_line_blue"/>
          <p:cNvSpPr/>
          <p:nvPr/>
        </p:nvSpPr>
        <p:spPr>
          <a:xfrm>
            <a:off x="2505075" y="5286375"/>
            <a:ext cx="190500" cy="190500"/>
          </a:xfrm>
          <a:prstGeom prst="line">
            <a:avLst/>
          </a:prstGeom>
          <a:noFill/>
          <a:ln w="317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5" name="n2_line_green"/>
          <p:cNvSpPr/>
          <p:nvPr/>
        </p:nvSpPr>
        <p:spPr>
          <a:xfrm flipH="1" flipV="1">
            <a:off x="4191000" y="2990850"/>
            <a:ext cx="180975" cy="276225"/>
          </a:xfrm>
          <a:prstGeom prst="line">
            <a:avLst/>
          </a:prstGeom>
          <a:noFill/>
          <a:ln w="3175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6" name="n2_line_white"/>
          <p:cNvSpPr/>
          <p:nvPr/>
        </p:nvSpPr>
        <p:spPr>
          <a:xfrm flipH="1" flipV="1">
            <a:off x="3943350" y="3276600"/>
            <a:ext cx="333375" cy="133350"/>
          </a:xfrm>
          <a:prstGeom prst="line">
            <a:avLst/>
          </a:prstGeom>
          <a:noFill/>
          <a:ln w="31750">
            <a:solidFill>
              <a:srgbClr val="C9C9C9"/>
            </a:solidFill>
          </a:ln>
        </p:spPr>
        <p:txBody>
          <a:bodyPr/>
          <a:lstStyle/>
          <a:p/>
        </p:txBody>
      </p:sp>
      <p:sp>
        <p:nvSpPr>
          <p:cNvPr id="7" name="n2_line_blue"/>
          <p:cNvSpPr/>
          <p:nvPr/>
        </p:nvSpPr>
        <p:spPr>
          <a:xfrm flipH="1">
            <a:off x="4171950" y="3619500"/>
            <a:ext cx="190500" cy="142875"/>
          </a:xfrm>
          <a:prstGeom prst="line">
            <a:avLst/>
          </a:prstGeom>
          <a:noFill/>
          <a:ln w="317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8" name="n3_line_blue"/>
          <p:cNvSpPr/>
          <p:nvPr/>
        </p:nvSpPr>
        <p:spPr>
          <a:xfrm flipH="1" flipV="1">
            <a:off x="5886450" y="3000375"/>
            <a:ext cx="9525" cy="342900"/>
          </a:xfrm>
          <a:prstGeom prst="line">
            <a:avLst/>
          </a:prstGeom>
          <a:noFill/>
          <a:ln w="317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9" name="n3_line_white"/>
          <p:cNvSpPr/>
          <p:nvPr/>
        </p:nvSpPr>
        <p:spPr>
          <a:xfrm flipH="1">
            <a:off x="5514975" y="3629025"/>
            <a:ext cx="257175" cy="257175"/>
          </a:xfrm>
          <a:prstGeom prst="line">
            <a:avLst/>
          </a:prstGeom>
          <a:noFill/>
          <a:ln w="31750">
            <a:solidFill>
              <a:srgbClr val="C9C9C9"/>
            </a:solidFill>
          </a:ln>
        </p:spPr>
        <p:txBody>
          <a:bodyPr/>
          <a:lstStyle/>
          <a:p/>
        </p:txBody>
      </p:sp>
      <p:sp>
        <p:nvSpPr>
          <p:cNvPr id="10" name="n3_line_green"/>
          <p:cNvSpPr/>
          <p:nvPr/>
        </p:nvSpPr>
        <p:spPr>
          <a:xfrm>
            <a:off x="6038850" y="3638550"/>
            <a:ext cx="219075" cy="323850"/>
          </a:xfrm>
          <a:prstGeom prst="line">
            <a:avLst/>
          </a:prstGeom>
          <a:noFill/>
          <a:ln w="3175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11" name="n4_line_green"/>
          <p:cNvSpPr/>
          <p:nvPr/>
        </p:nvSpPr>
        <p:spPr>
          <a:xfrm flipV="1">
            <a:off x="7467600" y="2971800"/>
            <a:ext cx="180975" cy="361950"/>
          </a:xfrm>
          <a:prstGeom prst="line">
            <a:avLst/>
          </a:prstGeom>
          <a:noFill/>
          <a:ln w="3175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12" name="n4_line_white"/>
          <p:cNvSpPr/>
          <p:nvPr/>
        </p:nvSpPr>
        <p:spPr>
          <a:xfrm flipV="1">
            <a:off x="7515225" y="3257550"/>
            <a:ext cx="266700" cy="200025"/>
          </a:xfrm>
          <a:prstGeom prst="line">
            <a:avLst/>
          </a:prstGeom>
          <a:noFill/>
          <a:ln w="31750">
            <a:solidFill>
              <a:srgbClr val="C9C9C9"/>
            </a:solidFill>
          </a:ln>
        </p:spPr>
        <p:txBody>
          <a:bodyPr/>
          <a:lstStyle/>
          <a:p/>
        </p:txBody>
      </p:sp>
      <p:sp>
        <p:nvSpPr>
          <p:cNvPr id="13" name="n4_line_blue"/>
          <p:cNvSpPr/>
          <p:nvPr/>
        </p:nvSpPr>
        <p:spPr>
          <a:xfrm>
            <a:off x="7458075" y="3733800"/>
            <a:ext cx="152400" cy="209550"/>
          </a:xfrm>
          <a:prstGeom prst="line">
            <a:avLst/>
          </a:prstGeom>
          <a:noFill/>
          <a:ln w="317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14" name="n5_line_green"/>
          <p:cNvSpPr/>
          <p:nvPr/>
        </p:nvSpPr>
        <p:spPr>
          <a:xfrm flipV="1">
            <a:off x="9725025" y="2971800"/>
            <a:ext cx="266700" cy="447675"/>
          </a:xfrm>
          <a:prstGeom prst="line">
            <a:avLst/>
          </a:prstGeom>
          <a:noFill/>
          <a:ln w="3175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15" name="n5_line_white"/>
          <p:cNvSpPr/>
          <p:nvPr/>
        </p:nvSpPr>
        <p:spPr>
          <a:xfrm flipV="1">
            <a:off x="9858375" y="3552825"/>
            <a:ext cx="314325" cy="47625"/>
          </a:xfrm>
          <a:prstGeom prst="line">
            <a:avLst/>
          </a:prstGeom>
          <a:noFill/>
          <a:ln w="31750">
            <a:solidFill>
              <a:srgbClr val="C9C9C9"/>
            </a:solidFill>
          </a:ln>
        </p:spPr>
        <p:txBody>
          <a:bodyPr/>
          <a:lstStyle/>
          <a:p/>
        </p:txBody>
      </p:sp>
      <p:sp>
        <p:nvSpPr>
          <p:cNvPr id="16" name="n5_line_blue"/>
          <p:cNvSpPr/>
          <p:nvPr/>
        </p:nvSpPr>
        <p:spPr>
          <a:xfrm>
            <a:off x="9744075" y="3800475"/>
            <a:ext cx="200025" cy="304800"/>
          </a:xfrm>
          <a:prstGeom prst="line">
            <a:avLst/>
          </a:prstGeom>
          <a:noFill/>
          <a:ln w="317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17" name="n1_blue"/>
          <p:cNvSpPr/>
          <p:nvPr/>
        </p:nvSpPr>
        <p:spPr>
          <a:xfrm>
            <a:off x="2066925" y="4667250"/>
            <a:ext cx="561975" cy="638175"/>
          </a:xfrm>
          <a:prstGeom prst="rect">
            <a:avLst/>
          </a:prstGeom>
          <a:noFill/>
          <a:ln w="571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18" name="n2_blue"/>
          <p:cNvSpPr/>
          <p:nvPr/>
        </p:nvSpPr>
        <p:spPr>
          <a:xfrm>
            <a:off x="4276725" y="3267075"/>
            <a:ext cx="304800" cy="352425"/>
          </a:xfrm>
          <a:prstGeom prst="rect">
            <a:avLst/>
          </a:prstGeom>
          <a:noFill/>
          <a:ln w="571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19" name="n3_blue"/>
          <p:cNvSpPr/>
          <p:nvPr/>
        </p:nvSpPr>
        <p:spPr>
          <a:xfrm>
            <a:off x="5762625" y="3343275"/>
            <a:ext cx="295275" cy="381000"/>
          </a:xfrm>
          <a:prstGeom prst="rect">
            <a:avLst/>
          </a:prstGeom>
          <a:noFill/>
          <a:ln w="571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20" name="n4_blue"/>
          <p:cNvSpPr/>
          <p:nvPr/>
        </p:nvSpPr>
        <p:spPr>
          <a:xfrm>
            <a:off x="7191375" y="3333750"/>
            <a:ext cx="323850" cy="400050"/>
          </a:xfrm>
          <a:prstGeom prst="rect">
            <a:avLst/>
          </a:prstGeom>
          <a:noFill/>
          <a:ln w="571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21" name="n5_blue"/>
          <p:cNvSpPr/>
          <p:nvPr/>
        </p:nvSpPr>
        <p:spPr>
          <a:xfrm>
            <a:off x="9544050" y="3419475"/>
            <a:ext cx="314325" cy="381000"/>
          </a:xfrm>
          <a:prstGeom prst="rect">
            <a:avLst/>
          </a:prstGeom>
          <a:noFill/>
          <a:ln w="57150">
            <a:solidFill>
              <a:srgbClr val="0080FF"/>
            </a:solidFill>
          </a:ln>
        </p:spPr>
        <p:txBody>
          <a:bodyPr/>
          <a:lstStyle/>
          <a:p/>
        </p:txBody>
      </p:sp>
      <p:sp>
        <p:nvSpPr>
          <p:cNvPr id="22" name="n1_green"/>
          <p:cNvSpPr/>
          <p:nvPr/>
        </p:nvSpPr>
        <p:spPr>
          <a:xfrm>
            <a:off x="2028825" y="4686300"/>
            <a:ext cx="495300" cy="533400"/>
          </a:xfrm>
          <a:prstGeom prst="rect">
            <a:avLst/>
          </a:prstGeom>
          <a:noFill/>
          <a:ln w="5080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23" name="n2_green"/>
          <p:cNvSpPr/>
          <p:nvPr/>
        </p:nvSpPr>
        <p:spPr>
          <a:xfrm>
            <a:off x="4333875" y="3343275"/>
            <a:ext cx="180975" cy="219075"/>
          </a:xfrm>
          <a:prstGeom prst="rect">
            <a:avLst/>
          </a:prstGeom>
          <a:noFill/>
          <a:ln w="4064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24" name="n3_green"/>
          <p:cNvSpPr/>
          <p:nvPr/>
        </p:nvSpPr>
        <p:spPr>
          <a:xfrm>
            <a:off x="5848350" y="3409950"/>
            <a:ext cx="180975" cy="247650"/>
          </a:xfrm>
          <a:prstGeom prst="rect">
            <a:avLst/>
          </a:prstGeom>
          <a:noFill/>
          <a:ln w="4064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25" name="n4_green"/>
          <p:cNvSpPr/>
          <p:nvPr/>
        </p:nvSpPr>
        <p:spPr>
          <a:xfrm>
            <a:off x="7267575" y="3400425"/>
            <a:ext cx="190500" cy="238125"/>
          </a:xfrm>
          <a:prstGeom prst="rect">
            <a:avLst/>
          </a:prstGeom>
          <a:noFill/>
          <a:ln w="4064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26" name="n5_green"/>
          <p:cNvSpPr/>
          <p:nvPr/>
        </p:nvSpPr>
        <p:spPr>
          <a:xfrm>
            <a:off x="9610725" y="3476625"/>
            <a:ext cx="180975" cy="266700"/>
          </a:xfrm>
          <a:prstGeom prst="rect">
            <a:avLst/>
          </a:prstGeom>
          <a:noFill/>
          <a:ln w="40640">
            <a:solidFill>
              <a:srgbClr val="00FF00"/>
            </a:solidFill>
          </a:ln>
        </p:spPr>
        <p:txBody>
          <a:bodyPr/>
          <a:lstStyle/>
          <a:p/>
        </p:txBody>
      </p:sp>
      <p:sp>
        <p:nvSpPr>
          <p:cNvPr id="27" name="n1_dot"/>
          <p:cNvSpPr/>
          <p:nvPr/>
        </p:nvSpPr>
        <p:spPr>
          <a:xfrm>
            <a:off x="2286000" y="4953000"/>
            <a:ext cx="38100" cy="381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n2_dot"/>
          <p:cNvSpPr/>
          <p:nvPr/>
        </p:nvSpPr>
        <p:spPr>
          <a:xfrm>
            <a:off x="4410075" y="3438525"/>
            <a:ext cx="28575" cy="28575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n3_dot"/>
          <p:cNvSpPr/>
          <p:nvPr/>
        </p:nvSpPr>
        <p:spPr>
          <a:xfrm>
            <a:off x="5924550" y="3524250"/>
            <a:ext cx="28575" cy="28575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n4_dot"/>
          <p:cNvSpPr/>
          <p:nvPr/>
        </p:nvSpPr>
        <p:spPr>
          <a:xfrm>
            <a:off x="7353300" y="3514725"/>
            <a:ext cx="28575" cy="28575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n5_dot"/>
          <p:cNvSpPr/>
          <p:nvPr/>
        </p:nvSpPr>
        <p:spPr>
          <a:xfrm>
            <a:off x="9696450" y="3600450"/>
            <a:ext cx="28575" cy="28575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2447925" y="4238625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FF00"/>
                </a:solidFill>
                <a:latin typeface="Arial"/>
                <a:ea typeface="Arial"/>
                <a:cs typeface="Arial"/>
              </a:rPr>
              <a:t>T297 Y1 C0.18</a:t>
            </a:r>
            <a:endParaRPr lang="zh-CN" sz="1800"/>
          </a:p>
        </p:txBody>
      </p:sp>
      <p:sp>
        <p:nvSpPr>
          <p:cNvPr id="33" name="TextBox 33"/>
          <p:cNvSpPr txBox="1"/>
          <p:nvPr/>
        </p:nvSpPr>
        <p:spPr>
          <a:xfrm>
            <a:off x="3076575" y="4772025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C9C9C9"/>
                </a:solidFill>
                <a:latin typeface="Arial"/>
                <a:ea typeface="Arial"/>
                <a:cs typeface="Arial"/>
              </a:rPr>
              <a:t>L5&lt;-&gt;Y1 IoU 0.68</a:t>
            </a:r>
            <a:endParaRPr lang="zh-CN" sz="1750"/>
          </a:p>
        </p:txBody>
      </p:sp>
      <p:sp>
        <p:nvSpPr>
          <p:cNvPr id="34" name="TextBox 34"/>
          <p:cNvSpPr txBox="1"/>
          <p:nvPr/>
        </p:nvSpPr>
        <p:spPr>
          <a:xfrm>
            <a:off x="2743200" y="53530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80FF"/>
                </a:solidFill>
                <a:latin typeface="Arial"/>
                <a:ea typeface="Arial"/>
                <a:cs typeface="Arial"/>
              </a:rPr>
              <a:t>T297 L5 Yellow-S</a:t>
            </a:r>
            <a:endParaRPr lang="zh-CN" sz="1750"/>
          </a:p>
        </p:txBody>
      </p:sp>
      <p:sp>
        <p:nvSpPr>
          <p:cNvPr id="35" name="TextBox 35"/>
          <p:cNvSpPr txBox="1"/>
          <p:nvPr/>
        </p:nvSpPr>
        <p:spPr>
          <a:xfrm>
            <a:off x="2933700" y="264795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FF00"/>
                </a:solidFill>
                <a:latin typeface="Arial"/>
                <a:ea typeface="Arial"/>
                <a:cs typeface="Arial"/>
              </a:rPr>
              <a:t>T297 Y0 C0.42</a:t>
            </a:r>
            <a:endParaRPr lang="zh-CN" sz="1800"/>
          </a:p>
        </p:txBody>
      </p:sp>
      <p:sp>
        <p:nvSpPr>
          <p:cNvPr id="36" name="TextBox 36"/>
          <p:cNvSpPr txBox="1"/>
          <p:nvPr/>
        </p:nvSpPr>
        <p:spPr>
          <a:xfrm>
            <a:off x="2105025" y="3114675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C9C9C9"/>
                </a:solidFill>
                <a:latin typeface="Arial"/>
                <a:ea typeface="Arial"/>
                <a:cs typeface="Arial"/>
              </a:rPr>
              <a:t>L4&lt;-&gt;Y6 IoU 0.54</a:t>
            </a:r>
            <a:endParaRPr lang="zh-CN" sz="1750"/>
          </a:p>
        </p:txBody>
      </p:sp>
      <p:sp>
        <p:nvSpPr>
          <p:cNvPr id="37" name="TextBox 37"/>
          <p:cNvSpPr txBox="1"/>
          <p:nvPr/>
        </p:nvSpPr>
        <p:spPr>
          <a:xfrm>
            <a:off x="2514600" y="37147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80FF"/>
                </a:solidFill>
                <a:latin typeface="Arial"/>
                <a:ea typeface="Arial"/>
                <a:cs typeface="Arial"/>
              </a:rPr>
              <a:t>T310 L1 Yellow-S</a:t>
            </a:r>
            <a:endParaRPr lang="zh-CN" sz="1750"/>
          </a:p>
        </p:txBody>
      </p:sp>
      <p:sp>
        <p:nvSpPr>
          <p:cNvPr id="38" name="TextBox 38"/>
          <p:cNvSpPr txBox="1"/>
          <p:nvPr/>
        </p:nvSpPr>
        <p:spPr>
          <a:xfrm>
            <a:off x="5124450" y="26479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80FF"/>
                </a:solidFill>
                <a:latin typeface="Arial"/>
                <a:ea typeface="Arial"/>
                <a:cs typeface="Arial"/>
              </a:rPr>
              <a:t>T313 L4 Yellow-S</a:t>
            </a:r>
            <a:endParaRPr lang="zh-CN" sz="1750"/>
          </a:p>
        </p:txBody>
      </p:sp>
      <p:sp>
        <p:nvSpPr>
          <p:cNvPr id="39" name="TextBox 39"/>
          <p:cNvSpPr txBox="1"/>
          <p:nvPr/>
        </p:nvSpPr>
        <p:spPr>
          <a:xfrm>
            <a:off x="4933950" y="3905250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C9C9C9"/>
                </a:solidFill>
                <a:latin typeface="Arial"/>
                <a:ea typeface="Arial"/>
                <a:cs typeface="Arial"/>
              </a:rPr>
              <a:t>L1&lt;-&gt;Y3</a:t>
            </a:r>
            <a:endParaRPr lang="zh-CN" sz="1750"/>
          </a:p>
        </p:txBody>
      </p:sp>
      <p:sp>
        <p:nvSpPr>
          <p:cNvPr id="40" name="TextBox 40"/>
          <p:cNvSpPr txBox="1"/>
          <p:nvPr/>
        </p:nvSpPr>
        <p:spPr>
          <a:xfrm>
            <a:off x="4953000" y="4152900"/>
            <a:ext cx="1619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C9C9C9"/>
                </a:solidFill>
                <a:latin typeface="Arial"/>
                <a:ea typeface="Arial"/>
                <a:cs typeface="Arial"/>
              </a:rPr>
              <a:t>IoU 0.76</a:t>
            </a:r>
            <a:endParaRPr lang="zh-CN" sz="1750"/>
          </a:p>
        </p:txBody>
      </p:sp>
      <p:sp>
        <p:nvSpPr>
          <p:cNvPr id="41" name="TextBox 41"/>
          <p:cNvSpPr txBox="1"/>
          <p:nvPr/>
        </p:nvSpPr>
        <p:spPr>
          <a:xfrm>
            <a:off x="6076950" y="40386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FF00"/>
                </a:solidFill>
                <a:latin typeface="Arial"/>
                <a:ea typeface="Arial"/>
                <a:cs typeface="Arial"/>
              </a:rPr>
              <a:t>T312 Y4 C0.44</a:t>
            </a:r>
            <a:endParaRPr lang="zh-CN" sz="1800"/>
          </a:p>
        </p:txBody>
      </p:sp>
      <p:sp>
        <p:nvSpPr>
          <p:cNvPr id="42" name="TextBox 42"/>
          <p:cNvSpPr txBox="1"/>
          <p:nvPr/>
        </p:nvSpPr>
        <p:spPr>
          <a:xfrm>
            <a:off x="7229475" y="25908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FF00"/>
                </a:solidFill>
                <a:latin typeface="Arial"/>
                <a:ea typeface="Arial"/>
                <a:cs typeface="Arial"/>
              </a:rPr>
              <a:t>T307 Y3 C0.62</a:t>
            </a:r>
            <a:endParaRPr lang="zh-CN" sz="1800"/>
          </a:p>
        </p:txBody>
      </p:sp>
      <p:sp>
        <p:nvSpPr>
          <p:cNvPr id="43" name="TextBox 43"/>
          <p:cNvSpPr txBox="1"/>
          <p:nvPr/>
        </p:nvSpPr>
        <p:spPr>
          <a:xfrm>
            <a:off x="7839075" y="3000375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C9C9C9"/>
                </a:solidFill>
                <a:latin typeface="Arial"/>
                <a:ea typeface="Arial"/>
                <a:cs typeface="Arial"/>
              </a:rPr>
              <a:t>L2&lt;-&gt;Y4 IoU 0.56</a:t>
            </a:r>
            <a:endParaRPr lang="zh-CN" sz="1750"/>
          </a:p>
        </p:txBody>
      </p:sp>
      <p:sp>
        <p:nvSpPr>
          <p:cNvPr id="44" name="TextBox 44"/>
          <p:cNvSpPr txBox="1"/>
          <p:nvPr/>
        </p:nvSpPr>
        <p:spPr>
          <a:xfrm>
            <a:off x="7600950" y="3895725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80FF"/>
                </a:solidFill>
                <a:latin typeface="Arial"/>
                <a:ea typeface="Arial"/>
                <a:cs typeface="Arial"/>
              </a:rPr>
              <a:t>T307 L2 Yellow-S</a:t>
            </a:r>
            <a:endParaRPr lang="zh-CN" sz="1750"/>
          </a:p>
        </p:txBody>
      </p:sp>
      <p:sp>
        <p:nvSpPr>
          <p:cNvPr id="45" name="TextBox 45"/>
          <p:cNvSpPr txBox="1"/>
          <p:nvPr/>
        </p:nvSpPr>
        <p:spPr>
          <a:xfrm>
            <a:off x="9858375" y="25908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00FF00"/>
                </a:solidFill>
                <a:latin typeface="Arial"/>
                <a:ea typeface="Arial"/>
                <a:cs typeface="Arial"/>
              </a:rPr>
              <a:t>T307 Y5 C0.33</a:t>
            </a:r>
            <a:endParaRPr lang="zh-CN" sz="1800"/>
          </a:p>
        </p:txBody>
      </p:sp>
      <p:sp>
        <p:nvSpPr>
          <p:cNvPr id="46" name="TextBox 46"/>
          <p:cNvSpPr txBox="1"/>
          <p:nvPr/>
        </p:nvSpPr>
        <p:spPr>
          <a:xfrm>
            <a:off x="10229850" y="3400425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C9C9C9"/>
                </a:solidFill>
                <a:latin typeface="Arial"/>
                <a:ea typeface="Arial"/>
                <a:cs typeface="Arial"/>
              </a:rPr>
              <a:t>L3&lt;-&gt;Y5 IoU 0.43</a:t>
            </a:r>
            <a:endParaRPr lang="zh-CN" sz="1750"/>
          </a:p>
        </p:txBody>
      </p:sp>
      <p:sp>
        <p:nvSpPr>
          <p:cNvPr id="47" name="TextBox 47"/>
          <p:cNvSpPr txBox="1"/>
          <p:nvPr/>
        </p:nvSpPr>
        <p:spPr>
          <a:xfrm>
            <a:off x="9829800" y="40957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80FF"/>
                </a:solidFill>
                <a:latin typeface="Arial"/>
                <a:ea typeface="Arial"/>
                <a:cs typeface="Arial"/>
              </a:rPr>
              <a:t>T312 L2 Yellow-S</a:t>
            </a:r>
            <a:endParaRPr lang="zh-CN" sz="1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